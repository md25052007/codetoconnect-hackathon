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09252ed-2263-27da-d6c8-1cee538596c8}">
          <p14:sldIdLst>
            <p14:sldId id="256"/>
          </p14:sldIdLst>
        </p14:section>
        <p14:section name="Problem and approach" id="{da794559-59b3-0d07-11a5-d89336d52eab}">
          <p14:sldIdLst>
            <p14:sldId id="257"/>
          </p14:sldIdLst>
        </p14:section>
        <p14:section name="Solution" id="{3d6de440-770b-1cda-9c21-7e299a52c953}">
          <p14:sldIdLst>
            <p14:sldId id="258"/>
            <p14:sldId id="259"/>
          </p14:sldIdLst>
        </p14:section>
        <p14:section name="Results" id="{7ded3905-d05f-9aa2-e0a2-3772d1b53fd7}">
          <p14:sldIdLst>
            <p14:sldId id="260"/>
            <p14:sldId id="261"/>
          </p14:sldIdLst>
        </p14:section>
        <p14:section name="Close" id="{b9579d75-dc0e-f542-3338-fe9669b46f80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Sentiment accuracy on held-out labelled data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Plain VADER (naive)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News sentences</c:v>
                  </c:pt>
                  <c:pt idx="1">
                    <c:v>Finance tweets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54.3</c:v>
                </c:pt>
                <c:pt idx="1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This engine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News sentences</c:v>
                  </c:pt>
                  <c:pt idx="1">
                    <c:v>Finance tweets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78.6</c:v>
                </c:pt>
                <c:pt idx="1">
                  <c:v>80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D4A6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Same-day |return| by impact score, vs each stock's typical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× typical move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1–3</c:v>
                  </c:pt>
                  <c:pt idx="1">
                    <c:v>3–5</c:v>
                  </c:pt>
                  <c:pt idx="2">
                    <c:v>5–7</c:v>
                  </c:pt>
                  <c:pt idx="3">
                    <c:v>7–10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</c:v>
                </c:pt>
                <c:pt idx="1">
                  <c:v>1.04</c:v>
                </c:pt>
                <c:pt idx="2">
                  <c:v>1.25</c:v>
                </c:pt>
                <c:pt idx="3">
                  <c:v>1.14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Loss on the $8.1bn synthetic banking book (impact 8.5)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loss ($m)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&quot;−$&quot;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Macro tightening</c:v>
                  </c:pt>
                  <c:pt idx="1">
                    <c:v>Brief example (eq −10 %, rates +2 %)</c:v>
                  </c:pt>
                  <c:pt idx="2">
                    <c:v>Credit event</c:v>
                  </c:pt>
                  <c:pt idx="3">
                    <c:v>Geopolitical</c:v>
                  </c:pt>
                  <c:pt idx="4">
                    <c:v>Regulatory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589</c:v>
                </c:pt>
                <c:pt idx="1">
                  <c:v>524</c:v>
                </c:pt>
                <c:pt idx="2">
                  <c:v>350</c:v>
                </c:pt>
                <c:pt idx="3">
                  <c:v>221</c:v>
                </c:pt>
                <c:pt idx="4">
                  <c:v>81</c:v>
                </c:pt>
              </c:numCache>
            </c:numRef>
          </c:val>
        </c:ser>
        <c:dLbls>
          <c:numFmt formatCode="&quot;−$&quot;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then state the one-line idea: unstructured text in, structured risk signals out, used by two downstream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business problem in your own words, then the three-part approach. Walk through the Brazil example: one sentence becomes four fields and a portfolio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sources, ingestion into a common Document schema, the NLP engine, the signal store and API, then Module A, Module B and the dashboard. The JSON box is the contract the modules consume.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most time on the design choices: why a light model plus a lexicon, why weak supervision, why a transparent impact formula. Mention 20 unit tests and the optional transformer back-ends.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engine is about 25 points more accurate than the naive lexicon on both news and tweets. Right: higher impact scores line up with bigger real price moves. Module A tracks equal weight closely; costs eat the small edge, and I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it matters to a ratings and risk firm: the engine reads everything, flags what matters, and translates it into portfolio losses and active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honest limitations and concrete next steps. Point to the GitHub repo: python main.py dashboard runs the whole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 Maithreya  ·  NITK Surathkal  ·  S&amp;P Global &amp; Crisil Campus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AI/NLP Financial Risk Engine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From news headlines and tweets to index weights and stress losses</a:t>
            </a:r>
            <a:endParaRPr lang="en-US" sz="2000" dirty="0"/>
          </a:p>
        </p:txBody>
      </p:sp>
      <p:sp>
        <p:nvSpPr>
          <p:cNvPr id="4" name="Candidate"/>
          <p:cNvSpPr txBox="1"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 Maithreya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National Institute of Technology Karnataka (NITK), Surathkal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S&amp;P Global &amp; Crisil Campus Hackathon · Case study: real-time risk signals</a:t>
            </a:r>
            <a:endParaRPr lang="en-US" sz="1600" dirty="0"/>
          </a:p>
        </p:txBody>
      </p:sp>
      <p:sp>
        <p:nvSpPr>
          <p:cNvPr id="5" name="Signal dot 1"/>
          <p:cNvSpPr/>
          <p:nvPr/>
        </p:nvSpPr>
        <p:spPr>
          <a:xfrm>
            <a:off x="640080" y="1325880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Signal dot 2"/>
          <p:cNvSpPr/>
          <p:nvPr/>
        </p:nvSpPr>
        <p:spPr>
          <a:xfrm>
            <a:off x="1024128" y="132588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ignal dot 3"/>
          <p:cNvSpPr/>
          <p:nvPr/>
        </p:nvSpPr>
        <p:spPr>
          <a:xfrm>
            <a:off x="1408176" y="1325880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Markets move on text, but risk systems need numbers</a:t>
            </a:r>
            <a:endParaRPr lang="en-US" sz="3200" dirty="0"/>
          </a:p>
        </p:txBody>
      </p:sp>
      <p:sp>
        <p:nvSpPr>
          <p:cNvPr id="3" name="Problem"/>
          <p:cNvSpPr txBox="1"/>
          <p:nvPr/>
        </p:nvSpPr>
        <p:spPr>
          <a:xfrm>
            <a:off x="548640" y="13258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Thousands of headlines and posts a day; a risk desk can read a handful.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Text is unstructured: no field says how bad, what kind, or which asset.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By the time a human has read it, prices have moved.</a:t>
            </a:r>
            <a:endParaRPr lang="en-US" sz="1600" dirty="0"/>
          </a:p>
        </p:txBody>
      </p:sp>
      <p:sp>
        <p:nvSpPr>
          <p:cNvPr id="4" name="Approach"/>
          <p:cNvSpPr txBox="1"/>
          <p:nvPr/>
        </p:nvSpPr>
        <p:spPr>
          <a:xfrm>
            <a:off x="548640" y="37947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My approach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One engine turns every document into a signal: sentiment (−1…+1), event type, impact (1–10).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Two real sources: 20k news headlines + 60k tweets, 2014–2016, replayable as a live stream.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Built both modules: an index rebalancer (A) and a banking-book stress tester (B).</a:t>
            </a:r>
            <a:endParaRPr lang="en-US" sz="1600" dirty="0"/>
          </a:p>
        </p:txBody>
      </p:sp>
      <p:sp>
        <p:nvSpPr>
          <p:cNvPr id="5" name="Example card"/>
          <p:cNvSpPr/>
          <p:nvPr/>
        </p:nvSpPr>
        <p:spPr>
          <a:xfrm>
            <a:off x="6172200" y="1325880"/>
            <a:ext cx="5440680" cy="4800600"/>
          </a:xfrm>
          <a:prstGeom prst="roundRect">
            <a:avLst>
              <a:gd name="adj" fmla="val 152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46520" y="1508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Input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8288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“Brazil downgraded to junk status by 2nd risk agency, with negative outlook for further downgrades.”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Engine output</a:t>
            </a:r>
            <a:endParaRPr lang="en-US" sz="1400" dirty="0"/>
          </a:p>
        </p:txBody>
      </p:sp>
      <p:graphicFrame>
        <p:nvGraphicFramePr>
          <p:cNvPr id="3" name="Example outpu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383280"/>
          <a:ext cx="4892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20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Entity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MARKET (market-wide)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Sentiment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−0.96  negative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Event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Credit Event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Impact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10.0 / 10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Action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Stress test fires → −$466m</a:t>
                      </a:r>
                      <a:endParaRPr lang="en-US" sz="1500" dirty="0"/>
                    </a:p>
                  </a:txBody>
                  <a:tcPr marL="91440" marR="91440" marT="0" marB="0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design: one engine, a signal contract, two consumers</a:t>
            </a:r>
            <a:endParaRPr lang="en-US" sz="3200" dirty="0"/>
          </a:p>
        </p:txBody>
      </p:sp>
      <p:pic>
        <p:nvPicPr>
          <p:cNvPr id="3" name="Architecture" descr="Architecture diagram: sources, ingestion, NLP risk engine, signal store and consu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312" y="1234440"/>
            <a:ext cx="8899071" cy="4983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 highlights and why I chose them</a:t>
            </a:r>
            <a:endParaRPr lang="en-US" sz="3200" dirty="0"/>
          </a:p>
        </p:txBody>
      </p:sp>
      <p:sp>
        <p:nvSpPr>
          <p:cNvPr id="3" name="Sentiment card"/>
          <p:cNvSpPr/>
          <p:nvPr/>
        </p:nvSpPr>
        <p:spPr>
          <a:xfrm>
            <a:off x="548640" y="1325880"/>
            <a:ext cx="2606040" cy="4754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Sentiment dot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Sentiment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TF-IDF + logistic regression trained on 14k labelled finance sentences and tweets, blended with a finance-tuned VADER lexicon.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251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Why: runs on a laptop in ms, explainable, and the lexicon covers geopolitical text the model never saw. FinBERT plugs in as an option.</a:t>
            </a:r>
            <a:endParaRPr lang="en-US" sz="1400" dirty="0"/>
          </a:p>
        </p:txBody>
      </p:sp>
      <p:sp>
        <p:nvSpPr>
          <p:cNvPr id="8" name="Event type card"/>
          <p:cNvSpPr/>
          <p:nvPr/>
        </p:nvSpPr>
        <p:spPr>
          <a:xfrm>
            <a:off x="3364992" y="1325880"/>
            <a:ext cx="2606040" cy="4754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Event type dot"/>
          <p:cNvSpPr/>
          <p:nvPr/>
        </p:nvSpPr>
        <p:spPr>
          <a:xfrm>
            <a:off x="3593592" y="15819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96512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Event type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219456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domain rules + a weak-supervised classifier: rules label 80k unlabelled texts, the model learns the context around them.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4251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Why: no labelled event dataset exists for this period; weak supervision gets coverage without hand-labelling.</a:t>
            </a:r>
            <a:endParaRPr lang="en-US" sz="1400" dirty="0"/>
          </a:p>
        </p:txBody>
      </p:sp>
      <p:sp>
        <p:nvSpPr>
          <p:cNvPr id="13" name="Impact 1–10 card"/>
          <p:cNvSpPr/>
          <p:nvPr/>
        </p:nvSpPr>
        <p:spPr>
          <a:xfrm>
            <a:off x="6181344" y="1325880"/>
            <a:ext cx="2606040" cy="4754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Impact 1–10 dot"/>
          <p:cNvSpPr/>
          <p:nvPr/>
        </p:nvSpPr>
        <p:spPr>
          <a:xfrm>
            <a:off x="6409944" y="158191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12864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Impact 1–10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19456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severity × intensity × credibility × systemic reach + urgency + magnitude + popularity. Every factor is returned.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4251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Why: risk governance needs to explain a score; each weight is a domain assumption you can challenge.</a:t>
            </a:r>
            <a:endParaRPr lang="en-US" sz="1400" dirty="0"/>
          </a:p>
        </p:txBody>
      </p:sp>
      <p:sp>
        <p:nvSpPr>
          <p:cNvPr id="18" name="Modules card"/>
          <p:cNvSpPr/>
          <p:nvPr/>
        </p:nvSpPr>
        <p:spPr>
          <a:xfrm>
            <a:off x="8997696" y="1325880"/>
            <a:ext cx="2606040" cy="47548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Modules dot"/>
          <p:cNvSpPr/>
          <p:nvPr/>
        </p:nvSpPr>
        <p:spPr>
          <a:xfrm>
            <a:off x="9226296" y="158191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29216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Modules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19456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A: EWMA → relative z-score → exp tilt, 1–12 % caps, 20 % turnover limit.  B: 203-trade book, shock library scaled by impact, sensitivity revaluation.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42519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Why: standard, auditable portfolio and stress-testing mechanics; FastAPI + Streamlit for demo and integration.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beats the naive baseline, checked against prices</a:t>
            </a:r>
            <a:endParaRPr lang="en-US" sz="3200" dirty="0"/>
          </a:p>
        </p:txBody>
      </p:sp>
      <p:graphicFrame>
        <p:nvGraphicFramePr>
          <p:cNvPr id="3" name="Sentiment accuracy chart" descr=""/>
          <p:cNvGraphicFramePr/>
          <p:nvPr/>
        </p:nvGraphicFramePr>
        <p:xfrm>
          <a:off x="548640" y="132588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Impact validation chart" descr=""/>
          <p:cNvGraphicFramePr/>
          <p:nvPr/>
        </p:nvGraphicFramePr>
        <p:xfrm>
          <a:off x="6263640" y="1325880"/>
          <a:ext cx="5349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tat 1"/>
          <p:cNvSpPr/>
          <p:nvPr/>
        </p:nvSpPr>
        <p:spPr>
          <a:xfrm>
            <a:off x="548640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101,437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structured signals from 60,388 documents (~1 ms each)</a:t>
            </a:r>
            <a:endParaRPr lang="en-US" sz="1200" dirty="0"/>
          </a:p>
        </p:txBody>
      </p:sp>
      <p:sp>
        <p:nvSpPr>
          <p:cNvPr id="8" name="Stat 2"/>
          <p:cNvSpPr/>
          <p:nvPr/>
        </p:nvSpPr>
        <p:spPr>
          <a:xfrm>
            <a:off x="3364992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547872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67.5%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3547872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event accuracy on 200 hand-labelled texts</a:t>
            </a:r>
            <a:endParaRPr lang="en-US" sz="1200" dirty="0"/>
          </a:p>
        </p:txBody>
      </p:sp>
      <p:sp>
        <p:nvSpPr>
          <p:cNvPr id="11" name="Stat 3"/>
          <p:cNvSpPr/>
          <p:nvPr/>
        </p:nvSpPr>
        <p:spPr>
          <a:xfrm>
            <a:off x="6181344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364224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+0.41% / −0.37%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364224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avg same-day return on positive / negative sentiment days</a:t>
            </a:r>
            <a:endParaRPr lang="en-US" sz="1200" dirty="0"/>
          </a:p>
        </p:txBody>
      </p:sp>
      <p:sp>
        <p:nvSpPr>
          <p:cNvPr id="14" name="Stat 4"/>
          <p:cNvSpPr/>
          <p:nvPr/>
        </p:nvSpPr>
        <p:spPr>
          <a:xfrm>
            <a:off x="8997696" y="475488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180576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22.2% / 22.3%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9180576" y="5394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Module A / equal-weight return (23.5% before costs)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Domain impact: from a headline to capital at risk</a:t>
            </a:r>
            <a:endParaRPr lang="en-US" sz="3200" dirty="0"/>
          </a:p>
        </p:txBody>
      </p:sp>
      <p:graphicFrame>
        <p:nvGraphicFramePr>
          <p:cNvPr id="3" name="Stress loss chart" descr=""/>
          <p:cNvGraphicFramePr/>
          <p:nvPr/>
        </p:nvGraphicFramePr>
        <p:xfrm>
          <a:off x="548640" y="1325880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Analyze screenshot" descr="Dashboard: a typed headline scored by the eng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074920" cy="13606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537960" y="27249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· A headline is scored live in the dashboard</a:t>
            </a:r>
            <a:endParaRPr lang="en-US" sz="1100" dirty="0"/>
          </a:p>
        </p:txBody>
      </p:sp>
      <p:pic>
        <p:nvPicPr>
          <p:cNvPr id="6" name="Stress screenshot" descr="Dashboard: portfolio value before and after a credit-event stress test, and P&amp;L by risk fac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154680"/>
            <a:ext cx="5074920" cy="205938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537960" y="5257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 · The trigger revalues the book: before vs after, P&amp;L by risk factor</a:t>
            </a:r>
            <a:endParaRPr lang="en-US" sz="1100" dirty="0"/>
          </a:p>
        </p:txBody>
      </p:sp>
      <p:sp>
        <p:nvSpPr>
          <p:cNvPr id="8" name="Impact bullets"/>
          <p:cNvSpPr txBox="1"/>
          <p:nvPr/>
        </p:nvSpPr>
        <p:spPr>
          <a:xfrm>
            <a:off x="548640" y="452628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193 stress triggers on 178 days, including Russia–Ukraine (Mar 2014), the OPEC price war (Nov 2014), the Greek debt crisis and Brazil's junk downgrade (2015).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Losses arrive broken down by risk factor, asset class, sector and trade, in the format risk committees already use.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score explains itself, which model validation requires.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next steps</a:t>
            </a:r>
            <a:endParaRPr lang="en-US" sz="3200" dirty="0"/>
          </a:p>
        </p:txBody>
      </p:sp>
      <p:sp>
        <p:nvSpPr>
          <p:cNvPr id="3" name="Limitation 1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Out-of-domain sentiment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520440" y="13258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supervised model reads geopolitical text poorly (33 %); routing to the lexicon lifts it to 48 %.</a:t>
            </a:r>
            <a:endParaRPr lang="en-US" sz="1400" dirty="0"/>
          </a:p>
        </p:txBody>
      </p:sp>
      <p:sp>
        <p:nvSpPr>
          <p:cNvPr id="6" name="Next dot 1"/>
          <p:cNvSpPr/>
          <p:nvPr/>
        </p:nvSpPr>
        <p:spPr>
          <a:xfrm>
            <a:off x="7863840" y="1737360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32588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Fine-tune FinBERT on labelled world-news headlines.</a:t>
            </a:r>
            <a:endParaRPr lang="en-US" sz="1400" dirty="0"/>
          </a:p>
        </p:txBody>
      </p:sp>
      <p:sp>
        <p:nvSpPr>
          <p:cNvPr id="8" name="Limitation 2"/>
          <p:cNvSpPr/>
          <p:nvPr/>
        </p:nvSpPr>
        <p:spPr>
          <a:xfrm>
            <a:off x="548640" y="2542032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420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Noisy news feed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420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Reddit world-news is not market-focused; market-level impact does not predict DJIA moves.</a:t>
            </a:r>
            <a:endParaRPr lang="en-US" sz="1400" dirty="0"/>
          </a:p>
        </p:txBody>
      </p:sp>
      <p:sp>
        <p:nvSpPr>
          <p:cNvPr id="11" name="Next dot 2"/>
          <p:cNvSpPr/>
          <p:nvPr/>
        </p:nvSpPr>
        <p:spPr>
          <a:xfrm>
            <a:off x="7863840" y="2953512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2542032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Reuters/GDELT feeds; learn impact weights from realised moves.</a:t>
            </a:r>
            <a:endParaRPr lang="en-US" sz="1400" dirty="0"/>
          </a:p>
        </p:txBody>
      </p:sp>
      <p:sp>
        <p:nvSpPr>
          <p:cNvPr id="13" name="Limitation 3"/>
          <p:cNvSpPr/>
          <p:nvPr/>
        </p:nvSpPr>
        <p:spPr>
          <a:xfrm>
            <a:off x="548640" y="3758184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Signal ≠ forecast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758184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Sentiment explains same-day returns but not the next day's (Spearman −0.02).</a:t>
            </a:r>
            <a:endParaRPr lang="en-US" sz="1400" dirty="0"/>
          </a:p>
        </p:txBody>
      </p:sp>
      <p:sp>
        <p:nvSpPr>
          <p:cNvPr id="16" name="Next dot 3"/>
          <p:cNvSpPr/>
          <p:nvPr/>
        </p:nvSpPr>
        <p:spPr>
          <a:xfrm>
            <a:off x="7863840" y="4169664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0" y="3758184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as a risk overlay; test intraday timing and cost-aware rebalancing.</a:t>
            </a:r>
            <a:endParaRPr lang="en-US" sz="1400" dirty="0"/>
          </a:p>
        </p:txBody>
      </p:sp>
      <p:sp>
        <p:nvSpPr>
          <p:cNvPr id="18" name="Limitation 4"/>
          <p:cNvSpPr/>
          <p:nvPr/>
        </p:nvSpPr>
        <p:spPr>
          <a:xfrm>
            <a:off x="548640" y="4974336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97433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Simplified stress model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974336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Linear sensitivities, 1-year PDs, a synthetic book, a 200-text evaluation set.</a:t>
            </a:r>
            <a:endParaRPr lang="en-US" sz="1400" dirty="0"/>
          </a:p>
        </p:txBody>
      </p:sp>
      <p:sp>
        <p:nvSpPr>
          <p:cNvPr id="21" name="Next dot 4"/>
          <p:cNvSpPr/>
          <p:nvPr/>
        </p:nvSpPr>
        <p:spPr>
          <a:xfrm>
            <a:off x="7863840" y="5385816"/>
            <a:ext cx="219456" cy="21945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4974336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 revaluation, scenario correlation, larger multi-rater gold set.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 Signal">
  <a:themeElements>
    <a:clrScheme name="Risk Signal">
      <a:dk1>
        <a:srgbClr val="14213D"/>
      </a:dk1>
      <a:lt1>
        <a:srgbClr val="FFFFFF"/>
      </a:lt1>
      <a:dk2>
        <a:srgbClr val="3D4A63"/>
      </a:dk2>
      <a:lt2>
        <a:srgbClr val="F1F4F8"/>
      </a:lt2>
      <a:accent1>
        <a:srgbClr val="F2A541"/>
      </a:accent1>
      <a:accent2>
        <a:srgbClr val="D64545"/>
      </a:accent2>
      <a:accent3>
        <a:srgbClr val="2A9D8F"/>
      </a:accent3>
      <a:accent4>
        <a:srgbClr val="2A78D6"/>
      </a:accent4>
      <a:accent5>
        <a:srgbClr val="8A94A6"/>
      </a:accent5>
      <a:accent6>
        <a:srgbClr val="0E1A30"/>
      </a:accent6>
      <a:hlink>
        <a:srgbClr val="2A78D6"/>
      </a:hlink>
      <a:folHlink>
        <a:srgbClr val="4A3AA7"/>
      </a:folHlink>
    </a:clrScheme>
    <a:fontScheme name="Risk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AI/NLP Financial Risk Engine</dc:title>
  <dc:subject>PptxGenJS Presentation</dc:subject>
  <dc:creator>D Maithreya</dc:creator>
  <cp:lastModifiedBy>D Maithreya</cp:lastModifiedBy>
  <cp:revision>1</cp:revision>
  <dcterms:created xsi:type="dcterms:W3CDTF">2026-10-04T11:40:50Z</dcterms:created>
  <dcterms:modified xsi:type="dcterms:W3CDTF">2026-10-04T11:40:50Z</dcterms:modified>
</cp:coreProperties>
</file>